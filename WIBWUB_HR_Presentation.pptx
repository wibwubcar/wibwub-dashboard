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Arial Black"/>
              </a:rPr>
              <a:t>ระบบ HR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CADCFC"/>
                </a:solidFill>
                <a:latin typeface="Arial Black"/>
              </a:rPr>
              <a:t>WIBWUB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บันทึกเวลา  ·  ลางาน  ·  อนุมัติ  —  ครบในที่เดียว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2026  ·  สำหรับทีม WIBWUB 40 คน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A6B"/>
                </a:solidFill>
                <a:latin typeface="Arial Black"/>
              </a:rPr>
              <a:t>ปัญหาที่ระบบนี้แก้ได้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3611880" cy="448056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3611880" cy="9144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11680" y="1325880"/>
            <a:ext cx="594360" cy="594360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13258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2A6B"/>
                </a:solidFill>
                <a:latin typeface="Arial Black"/>
              </a:rPr>
              <a:t>ไม่มีระบบ
บันทึกเวลา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26080"/>
            <a:ext cx="3246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พนักงานไม่ได้บันทึกเข้า-ออกงาน
HR ไม่รู้ว่าใครมาสาย
ไม่มีข้อมูลสำหรับรายงาน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143000"/>
            <a:ext cx="3611880" cy="448056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143000"/>
            <a:ext cx="361188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0" y="1325880"/>
            <a:ext cx="594360" cy="5943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13258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057400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2A6B"/>
                </a:solidFill>
                <a:latin typeface="Arial Black"/>
              </a:rPr>
              <a:t>ใบลา
ไม่เป็นระบบ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926080"/>
            <a:ext cx="3246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ส่งใบลาทาง Line แล้วหาย
ไม่มีประวัติการลา
ไม่มีโควต้าวันลา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1143000"/>
            <a:ext cx="3611880" cy="448056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80" y="1143000"/>
            <a:ext cx="3611880" cy="9144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92640" y="1325880"/>
            <a:ext cx="594360" cy="594360"/>
          </a:xfrm>
          <a:prstGeom prst="ellipse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13258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057400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2A6B"/>
                </a:solidFill>
                <a:latin typeface="Arial Black"/>
              </a:rPr>
              <a:t>HR ต้องทำงาน
ซ้ำซ้อน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926080"/>
            <a:ext cx="3246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รวมข้อมูลด้วยมือทุกเดือน
เสียเวลามาก ข้อมูลผิดพลาด
ไม่มีรายงานอัตโนมัติ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5852160"/>
            <a:ext cx="5760720" cy="685800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0" y="585216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→  แก้ได้ทั้งหมดด้วยระบบ WIBWUB HR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 Black"/>
              </a:rPr>
              <a:t>ภาพรวมระบบ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80160"/>
            <a:ext cx="2560320" cy="384048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 Black"/>
              </a:rPr>
              <a:t>พนักงาน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  <a:latin typeface="Calibri"/>
              </a:rPr>
              <a:t>เช็คอิน · เช็คเอาท์
ส่งใบลา
ผ่าน Mobile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39" y="2926080"/>
            <a:ext cx="274320" cy="20116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37560" y="1280160"/>
            <a:ext cx="2560320" cy="38404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4630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 Black"/>
              </a:rPr>
              <a:t>Firebase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19456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  <a:latin typeface="Calibri"/>
              </a:rPr>
              <a:t>บันทึกข้อมูล
Real-time Database
Auth + Firestore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926080"/>
            <a:ext cx="274320" cy="20116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280160"/>
            <a:ext cx="2560320" cy="3840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4630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 Black"/>
              </a:rPr>
              <a:t>HR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19456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  <a:latin typeface="Calibri"/>
              </a:rPr>
              <a:t>ดูสถานะทีม
อนุมัติ / ปฏิเสธ
Real-time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32520" y="2926080"/>
            <a:ext cx="274320" cy="20116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06840" y="1280160"/>
            <a:ext cx="2560320" cy="384048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4630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 Black"/>
              </a:rPr>
              <a:t>Line แจ้งเตือน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19456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  <a:latin typeface="Calibri"/>
              </a:rPr>
              <a:t>HR รับแจ้งทันที
Notify หรือ Bot
อนุมัติใน Line ได้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864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  <a:latin typeface="Calibri"/>
              </a:rPr>
              <a:t>Tech Stack:  Firebase Auth · Firestore · GitHub Pages · Line Notify / Bot · Google Apps Script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5989320"/>
            <a:ext cx="3566160" cy="6400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59893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ค่าใช้จ่าย: ฟรีทั้งหมด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6B"/>
                </a:solidFill>
                <a:latin typeface="Arial Black"/>
              </a:rPr>
              <a:t>พนักงานทำอะไร  —  ทุกวัน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5486400" cy="233172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640080" cy="233172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640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25272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6B"/>
                </a:solidFill>
                <a:latin typeface="Arial Black"/>
              </a:rPr>
              <a:t>เปิด WIBWUB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801368"/>
            <a:ext cx="4572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เปิดเว็บ wibwubcar.github.io
บันทึกเป็น App ไอคอนบนมือถือ
รองรับทั้ง Android + iPhone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43000"/>
            <a:ext cx="5486400" cy="233172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143000"/>
            <a:ext cx="640080" cy="2331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143000"/>
            <a:ext cx="640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25272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6B"/>
                </a:solidFill>
                <a:latin typeface="Arial Black"/>
              </a:rPr>
              <a:t>Login ครั้งแรก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801368"/>
            <a:ext cx="4572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ใช้ email + รหัสผ่านที่ HR ตั้งให้
Login ครั้งเดียว จำอัตโนมัติ
รองรับ role: Admin / HR / พนักงาน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49039"/>
            <a:ext cx="5486400" cy="233172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749039"/>
            <a:ext cx="640080" cy="233172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749039"/>
            <a:ext cx="640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85876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6B"/>
                </a:solidFill>
                <a:latin typeface="Arial Black"/>
              </a:rPr>
              <a:t>เช็คอินเข้างาน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407407"/>
            <a:ext cx="4572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กดปุ่ม "เช็คอินเข้างาน"
ระบบจับ GPS อัตโนมัติ
บันทึกเวลา + สถานะตรงเวลา/สาย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749039"/>
            <a:ext cx="5486400" cy="233172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749039"/>
            <a:ext cx="640080" cy="2331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749039"/>
            <a:ext cx="640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85876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6B"/>
                </a:solidFill>
                <a:latin typeface="Arial Black"/>
              </a:rPr>
              <a:t>เช็คเอาท์ออกงาน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4407407"/>
            <a:ext cx="4572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กดปุ่ม "เช็คเอาท์" ตอนเลิกงาน
ระบบคำนวณชั่วโมงทำงาน
ข้อมูลขึ้น HR Dashboard ทันที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6B"/>
                </a:solidFill>
                <a:latin typeface="Arial Black"/>
              </a:rPr>
              <a:t>ตัวอย่างหน้าจอ: Login และหน้าหลัก HR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05840"/>
            <a:ext cx="2194560" cy="4389120"/>
          </a:xfrm>
          <a:prstGeom prst="roundRect">
            <a:avLst>
              <a:gd name="adj" fmla="val 5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19" y="1097280"/>
            <a:ext cx="201167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08760" y="1097280"/>
            <a:ext cx="457200" cy="137160"/>
          </a:xfrm>
          <a:prstGeom prst="roundRect">
            <a:avLst>
              <a:gd name="adj" fmla="val 5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19" y="1097280"/>
            <a:ext cx="2011679" cy="27432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3" y="11430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09:00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1417320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 Black"/>
              </a:rPr>
              <a:t>WIBWUB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1719072"/>
            <a:ext cx="20116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  <a:latin typeface="Calibri"/>
              </a:rPr>
              <a:t>ระบบบันทึกเวลาพนักงาน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2029968"/>
            <a:ext cx="1828799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121408"/>
            <a:ext cx="18287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2A6B"/>
                </a:solidFill>
                <a:latin typeface="Calibri"/>
              </a:rPr>
              <a:t>เข้าสู่ระบบ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468880"/>
            <a:ext cx="1645919" cy="347472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2505456"/>
            <a:ext cx="15544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อีเมล / ชื่อผู้ใช้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898648"/>
            <a:ext cx="1645919" cy="347472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2935224"/>
            <a:ext cx="15544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รหัสผ่าน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355848"/>
            <a:ext cx="1645919" cy="384048"/>
          </a:xfrm>
          <a:prstGeom prst="roundRect">
            <a:avLst>
              <a:gd name="adj" fmla="val 5000"/>
            </a:avLst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16459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เข้าสู่ระบบ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" y="3858768"/>
            <a:ext cx="20116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ใช้บัญชี Firebase ของบริษัท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864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2A6B"/>
                </a:solidFill>
                <a:latin typeface="Calibri"/>
              </a:rPr>
              <a:t>ขั้นตอนที่ 1
Login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2926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1005840"/>
            <a:ext cx="2194560" cy="4389120"/>
          </a:xfrm>
          <a:prstGeom prst="roundRect">
            <a:avLst>
              <a:gd name="adj" fmla="val 5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657600" y="1097280"/>
            <a:ext cx="201167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34840" y="1097280"/>
            <a:ext cx="457200" cy="137160"/>
          </a:xfrm>
          <a:prstGeom prst="roundRect">
            <a:avLst>
              <a:gd name="adj" fmla="val 5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0" y="1097280"/>
            <a:ext cx="2011679" cy="27432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12463" y="11430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09:00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30752" y="14173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สวัสดี, ฟี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30752" y="164592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31 พ.ค. 2569</a:t>
            </a:r>
          </a:p>
        </p:txBody>
      </p:sp>
      <p:sp>
        <p:nvSpPr>
          <p:cNvPr id="28" name="Oval 27"/>
          <p:cNvSpPr/>
          <p:nvPr/>
        </p:nvSpPr>
        <p:spPr>
          <a:xfrm>
            <a:off x="5321807" y="1417320"/>
            <a:ext cx="292608" cy="292608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21807" y="141732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2A6B"/>
                </a:solidFill>
                <a:latin typeface="Calibri"/>
              </a:rPr>
              <a:t>ฟี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30752" y="1938528"/>
            <a:ext cx="1865375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30752" y="2011680"/>
            <a:ext cx="18653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2A6B"/>
                </a:solidFill>
                <a:latin typeface="Calibri"/>
              </a:rPr>
              <a:t>08:47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30752" y="2395728"/>
            <a:ext cx="186537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ยังไม่ได้เช็คอิน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30752" y="2706624"/>
            <a:ext cx="1865375" cy="384048"/>
          </a:xfrm>
          <a:prstGeom prst="roundRect">
            <a:avLst>
              <a:gd name="adj" fmla="val 5000"/>
            </a:avLst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30752" y="2706624"/>
            <a:ext cx="186537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📍 เช็คอินเข้างาน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30752" y="3172968"/>
            <a:ext cx="1865375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94760" y="32461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6B"/>
                </a:solidFill>
                <a:latin typeface="Calibri"/>
              </a:rPr>
              <a:t>วันลาคงเหลือ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66359" y="3410712"/>
            <a:ext cx="438912" cy="182880"/>
          </a:xfrm>
          <a:prstGeom prst="roundRect">
            <a:avLst>
              <a:gd name="adj" fmla="val 5000"/>
            </a:avLst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94760" y="34290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ลาพักร้อน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59" y="3410712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6E56"/>
                </a:solidFill>
                <a:latin typeface="Calibri"/>
              </a:rPr>
              <a:t>8 วัน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66359" y="3630168"/>
            <a:ext cx="438912" cy="182880"/>
          </a:xfrm>
          <a:prstGeom prst="roundRect">
            <a:avLst>
              <a:gd name="adj" fmla="val 5000"/>
            </a:avLst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94760" y="364845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ลาป่วย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66359" y="3630168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85FA5"/>
                </a:solidFill>
                <a:latin typeface="Calibri"/>
              </a:rPr>
              <a:t>30 วัน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730752" y="3995928"/>
            <a:ext cx="1865375" cy="347472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30752" y="3995928"/>
            <a:ext cx="18653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B2A6B"/>
                </a:solidFill>
                <a:latin typeface="Calibri"/>
              </a:rPr>
              <a:t>📝 ส่งใบลา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0" y="54864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2A6B"/>
                </a:solidFill>
                <a:latin typeface="Calibri"/>
              </a:rPr>
              <a:t>ขั้นตอนที่ 2
หน้าหลัก HR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10058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A6B"/>
                </a:solidFill>
                <a:latin typeface="Arial Black"/>
              </a:rPr>
              <a:t>Login และหน้าหลัก</a:t>
            </a:r>
          </a:p>
        </p:txBody>
      </p:sp>
      <p:sp>
        <p:nvSpPr>
          <p:cNvPr id="47" name="Oval 46"/>
          <p:cNvSpPr/>
          <p:nvPr/>
        </p:nvSpPr>
        <p:spPr>
          <a:xfrm>
            <a:off x="6400800" y="1645920"/>
            <a:ext cx="274320" cy="274320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1645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164592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6B"/>
                </a:solidFill>
                <a:latin typeface="Calibri"/>
              </a:rPr>
              <a:t>🔐 Login ด้วย Firebase Auth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1956816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email + password ที่ HR ตั้งให้ — Login ครั้งเดียวระบบจำไว้อัตโนมัติ</a:t>
            </a:r>
          </a:p>
        </p:txBody>
      </p:sp>
      <p:sp>
        <p:nvSpPr>
          <p:cNvPr id="51" name="Oval 50"/>
          <p:cNvSpPr/>
          <p:nvPr/>
        </p:nvSpPr>
        <p:spPr>
          <a:xfrm>
            <a:off x="6400800" y="2743200"/>
            <a:ext cx="274320" cy="274320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2743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60" y="274320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6B"/>
                </a:solidFill>
                <a:latin typeface="Calibri"/>
              </a:rPr>
              <a:t>🏠 หน้าหลัก HR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60" y="3054096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เห็นเวลาปัจจุบัน, วันลาคงเหลือ, ปุ่มเช็คอิน และปุ่มส่งใบลา</a:t>
            </a:r>
          </a:p>
        </p:txBody>
      </p:sp>
      <p:sp>
        <p:nvSpPr>
          <p:cNvPr id="55" name="Oval 54"/>
          <p:cNvSpPr/>
          <p:nvPr/>
        </p:nvSpPr>
        <p:spPr>
          <a:xfrm>
            <a:off x="6400800" y="3840480"/>
            <a:ext cx="274320" cy="274320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3840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0" y="384048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6B"/>
                </a:solidFill>
                <a:latin typeface="Calibri"/>
              </a:rPr>
              <a:t>👥 Role-based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4151376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Admin เห็นทุกอย่าง, พนักงานเห็นข้อมูลตัวเอง</a:t>
            </a:r>
          </a:p>
        </p:txBody>
      </p:sp>
      <p:sp>
        <p:nvSpPr>
          <p:cNvPr id="59" name="Oval 58"/>
          <p:cNvSpPr/>
          <p:nvPr/>
        </p:nvSpPr>
        <p:spPr>
          <a:xfrm>
            <a:off x="6400800" y="4937759"/>
            <a:ext cx="274320" cy="274320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0" y="493775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4937759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6B"/>
                </a:solidFill>
                <a:latin typeface="Calibri"/>
              </a:rPr>
              <a:t>📱 รองรับทุกมือถือ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66560" y="5248655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เปิดผ่าน Browser ได้เลย หรือบันทึกเป็น App icon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6B"/>
                </a:solidFill>
                <a:latin typeface="Arial Black"/>
              </a:rPr>
              <a:t>ตัวอย่างหน้าจอ: Check-in และ Check-out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05840"/>
            <a:ext cx="2194560" cy="4389120"/>
          </a:xfrm>
          <a:prstGeom prst="roundRect">
            <a:avLst>
              <a:gd name="adj" fmla="val 5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19" y="1097280"/>
            <a:ext cx="201167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08760" y="1097280"/>
            <a:ext cx="457200" cy="137160"/>
          </a:xfrm>
          <a:prstGeom prst="roundRect">
            <a:avLst>
              <a:gd name="adj" fmla="val 5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19" y="1097280"/>
            <a:ext cx="2011679" cy="27432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3" y="11430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09:00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4173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เช็คอิน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39" y="1426464"/>
            <a:ext cx="777240" cy="182880"/>
          </a:xfrm>
          <a:prstGeom prst="roundRect">
            <a:avLst>
              <a:gd name="adj" fmla="val 5000"/>
            </a:avLst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39" y="1426464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D97706"/>
                </a:solidFill>
                <a:latin typeface="Calibri"/>
              </a:rPr>
              <a:t>กำลังหา GPS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" y="1682496"/>
            <a:ext cx="1865375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63039" y="1792224"/>
            <a:ext cx="548640" cy="548640"/>
          </a:xfrm>
          <a:prstGeom prst="ellipse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39" y="179222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E293B"/>
                </a:solidFill>
                <a:latin typeface="Calibri"/>
              </a:rPr>
              <a:t>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2414016"/>
            <a:ext cx="186537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กำลังระบุตำแหน่ง...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2596896"/>
            <a:ext cx="186537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2A6B"/>
                </a:solidFill>
                <a:latin typeface="Calibri"/>
              </a:rPr>
              <a:t>08:47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" y="2980944"/>
            <a:ext cx="1865375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145536"/>
            <a:ext cx="164592" cy="16459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054096"/>
            <a:ext cx="15087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13.756, 100.501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55264"/>
            <a:ext cx="1783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สำนักงาน WIBWUB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" y="3575304"/>
            <a:ext cx="1865375" cy="384048"/>
          </a:xfrm>
          <a:prstGeom prst="roundRect">
            <a:avLst>
              <a:gd name="adj" fmla="val 5000"/>
            </a:avLst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3575304"/>
            <a:ext cx="186537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 ยืนยันเช็คอิน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864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2A6B"/>
                </a:solidFill>
                <a:latin typeface="Calibri"/>
              </a:rPr>
              <a:t>ขั้นตอนที่ 3
เช็คอินพร้อม GPS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2926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1005840"/>
            <a:ext cx="2194560" cy="4389120"/>
          </a:xfrm>
          <a:prstGeom prst="roundRect">
            <a:avLst>
              <a:gd name="adj" fmla="val 5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657600" y="1097280"/>
            <a:ext cx="201167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34840" y="1097280"/>
            <a:ext cx="457200" cy="137160"/>
          </a:xfrm>
          <a:prstGeom prst="roundRect">
            <a:avLst>
              <a:gd name="adj" fmla="val 5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0" y="1097280"/>
            <a:ext cx="2011679" cy="27432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12463" y="11430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09:00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30752" y="14173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สถานะวันนี้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46319" y="1426464"/>
            <a:ext cx="777240" cy="182880"/>
          </a:xfrm>
          <a:prstGeom prst="roundRect">
            <a:avLst>
              <a:gd name="adj" fmla="val 5000"/>
            </a:avLst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19" y="1426464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6E56"/>
                </a:solidFill>
                <a:latin typeface="Calibri"/>
              </a:rPr>
              <a:t>เข้างานแล้ว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30752" y="1682496"/>
            <a:ext cx="1865375" cy="1325880"/>
          </a:xfrm>
          <a:prstGeom prst="roundRect">
            <a:avLst>
              <a:gd name="adj" fmla="val 5000"/>
            </a:avLst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22191" y="1773936"/>
            <a:ext cx="1737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6E56"/>
                </a:solidFill>
                <a:latin typeface="Calibri"/>
              </a:rPr>
              <a:t>✓  บันทึกสำเร็จ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22191" y="20848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6E56"/>
                </a:solidFill>
                <a:latin typeface="Calibri"/>
              </a:rPr>
              <a:t>เวลาเข้า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199" y="202996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F6E56"/>
                </a:solidFill>
                <a:latin typeface="Calibri"/>
              </a:rPr>
              <a:t>08:47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22191" y="23408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6E56"/>
                </a:solidFill>
                <a:latin typeface="Calibri"/>
              </a:rPr>
              <a:t>สถานะ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10912" y="2322576"/>
            <a:ext cx="594360" cy="201168"/>
          </a:xfrm>
          <a:prstGeom prst="roundRect">
            <a:avLst>
              <a:gd name="adj" fmla="val 5000"/>
            </a:avLst>
          </a:prstGeom>
          <a:solidFill>
            <a:srgbClr val="EAF3DE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10912" y="2322576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6E56"/>
                </a:solidFill>
                <a:latin typeface="Calibri"/>
              </a:rPr>
              <a:t>ตรงเวลา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22191" y="2596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6E56"/>
                </a:solidFill>
                <a:latin typeface="Calibri"/>
              </a:rPr>
              <a:t>ตำแหน่ง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3479" y="259689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F6E56"/>
                </a:solidFill>
                <a:latin typeface="Calibri"/>
              </a:rPr>
              <a:t>สำนักงาน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30752" y="3145536"/>
            <a:ext cx="186537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อย่าลืมเช็คเอาท์ตอนเลิกงาน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730752" y="3419856"/>
            <a:ext cx="1865375" cy="384048"/>
          </a:xfrm>
          <a:prstGeom prst="roundRect">
            <a:avLst>
              <a:gd name="adj" fmla="val 5000"/>
            </a:avLst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30752" y="3419856"/>
            <a:ext cx="186537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🚪 เช็คเอาท์ออกงาน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54864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2A6B"/>
                </a:solidFill>
                <a:latin typeface="Calibri"/>
              </a:rPr>
              <a:t>ขั้นตอนที่ 4
เช็คเอาท์สำเร็จ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10058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A6B"/>
                </a:solidFill>
                <a:latin typeface="Arial Black"/>
              </a:rPr>
              <a:t>Check-in / Check-out</a:t>
            </a:r>
          </a:p>
        </p:txBody>
      </p:sp>
      <p:sp>
        <p:nvSpPr>
          <p:cNvPr id="46" name="Oval 45"/>
          <p:cNvSpPr/>
          <p:nvPr/>
        </p:nvSpPr>
        <p:spPr>
          <a:xfrm>
            <a:off x="6400800" y="1645920"/>
            <a:ext cx="274320" cy="27432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1645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164592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6B"/>
                </a:solidFill>
                <a:latin typeface="Calibri"/>
              </a:rPr>
              <a:t>📍 GPS อัตโนมัติ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1956816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กดปุ่มเดียว ระบบจับตำแหน่งให้เลย ไม่ต้องกรอกเอง</a:t>
            </a:r>
          </a:p>
        </p:txBody>
      </p:sp>
      <p:sp>
        <p:nvSpPr>
          <p:cNvPr id="50" name="Oval 49"/>
          <p:cNvSpPr/>
          <p:nvPr/>
        </p:nvSpPr>
        <p:spPr>
          <a:xfrm>
            <a:off x="6400800" y="2743200"/>
            <a:ext cx="274320" cy="27432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2743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274320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6B"/>
                </a:solidFill>
                <a:latin typeface="Calibri"/>
              </a:rPr>
              <a:t>⏰ ตรวจสอบเวลา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60" y="3054096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สาย = เช็คอินหลัง 08:00 น. ระบบบันทึกสถานะให้อัตโนมัติ</a:t>
            </a:r>
          </a:p>
        </p:txBody>
      </p:sp>
      <p:sp>
        <p:nvSpPr>
          <p:cNvPr id="54" name="Oval 53"/>
          <p:cNvSpPr/>
          <p:nvPr/>
        </p:nvSpPr>
        <p:spPr>
          <a:xfrm>
            <a:off x="6400800" y="3840480"/>
            <a:ext cx="274320" cy="27432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3840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0" y="384048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6B"/>
                </a:solidFill>
                <a:latin typeface="Calibri"/>
              </a:rPr>
              <a:t>✅ เช็คเอาท์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0" y="4151376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กดเมื่อเลิกงาน ระบบคำนวณชั่วโมงทำงาน</a:t>
            </a:r>
          </a:p>
        </p:txBody>
      </p:sp>
      <p:sp>
        <p:nvSpPr>
          <p:cNvPr id="58" name="Oval 57"/>
          <p:cNvSpPr/>
          <p:nvPr/>
        </p:nvSpPr>
        <p:spPr>
          <a:xfrm>
            <a:off x="6400800" y="4937759"/>
            <a:ext cx="274320" cy="27432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493775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66560" y="4937759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6B"/>
                </a:solidFill>
                <a:latin typeface="Calibri"/>
              </a:rPr>
              <a:t>📊 ขึ้น Dashboard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5248655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ข้อมูล HR Dashboard อัปเดต real-time ทันทีที่เช็คอิน/ออก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6B"/>
                </a:solidFill>
                <a:latin typeface="Arial Black"/>
              </a:rPr>
              <a:t>ระบบลางาน  —  ส่งใบลาบนมือถือ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6B"/>
                </a:solidFill>
                <a:latin typeface="Calibri"/>
              </a:rPr>
              <a:t>ประเภทการลาที่รองรับ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72768"/>
            <a:ext cx="1691640" cy="896112"/>
          </a:xfrm>
          <a:prstGeom prst="roundRect">
            <a:avLst>
              <a:gd name="adj" fmla="val 5000"/>
            </a:avLst>
          </a:prstGeom>
          <a:solidFill>
            <a:srgbClr val="FCEBE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32D2D"/>
                </a:solidFill>
                <a:latin typeface="Calibri"/>
              </a:rPr>
              <a:t>ลาป่วย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48256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32D2D"/>
                </a:solidFill>
                <a:latin typeface="Calibri"/>
              </a:rPr>
              <a:t>ได้ถึง 30 วัน/ปี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572768"/>
            <a:ext cx="1691640" cy="896112"/>
          </a:xfrm>
          <a:prstGeom prst="roundRect">
            <a:avLst>
              <a:gd name="adj" fmla="val 5000"/>
            </a:avLst>
          </a:prstGeom>
          <a:solidFill>
            <a:srgbClr val="FAEED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64592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97706"/>
                </a:solidFill>
                <a:latin typeface="Calibri"/>
              </a:rPr>
              <a:t>ลากิจ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048256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97706"/>
                </a:solidFill>
                <a:latin typeface="Calibri"/>
              </a:rPr>
              <a:t>ได้ถึง 3 วัน/ปี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572768"/>
            <a:ext cx="1691640" cy="896112"/>
          </a:xfrm>
          <a:prstGeom prst="roundRect">
            <a:avLst>
              <a:gd name="adj" fmla="val 5000"/>
            </a:avLst>
          </a:prstGeom>
          <a:solidFill>
            <a:srgbClr val="EAF3D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164592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6E56"/>
                </a:solidFill>
                <a:latin typeface="Calibri"/>
              </a:rPr>
              <a:t>ลาพักร้อน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048256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6E56"/>
                </a:solidFill>
                <a:latin typeface="Calibri"/>
              </a:rPr>
              <a:t>ได้ถึง 6 วัน/ปี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96896"/>
            <a:ext cx="1691640" cy="896112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67004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C3AED"/>
                </a:solidFill>
                <a:latin typeface="Calibri"/>
              </a:rPr>
              <a:t>WFH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72384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C3AED"/>
                </a:solidFill>
                <a:latin typeface="Calibri"/>
              </a:rPr>
              <a:t>ตามนโยบายบริษัท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2596896"/>
            <a:ext cx="1691640" cy="896112"/>
          </a:xfrm>
          <a:prstGeom prst="roundRect">
            <a:avLst>
              <a:gd name="adj" fmla="val 5000"/>
            </a:avLst>
          </a:prstGeom>
          <a:solidFill>
            <a:srgbClr val="FCE7F3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267004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D174D"/>
                </a:solidFill>
                <a:latin typeface="Calibri"/>
              </a:rPr>
              <a:t>ลาคลอด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072384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D174D"/>
                </a:solidFill>
                <a:latin typeface="Calibri"/>
              </a:rPr>
              <a:t>98 วัน (กฎหมาย)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0" y="2596896"/>
            <a:ext cx="1691640" cy="896112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267004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A3412"/>
                </a:solidFill>
                <a:latin typeface="Calibri"/>
              </a:rPr>
              <a:t>ลาบวช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072384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3412"/>
                </a:solidFill>
                <a:latin typeface="Calibri"/>
              </a:rPr>
              <a:t>ตามนโยบายบริษัท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6B"/>
                </a:solidFill>
                <a:latin typeface="Calibri"/>
              </a:rPr>
              <a:t>ขั้นตอนการส่งใบลา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1627632"/>
            <a:ext cx="274320" cy="274320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6276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16459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พนักงานเลือกประเภทการลา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28816" y="1901952"/>
            <a:ext cx="18288" cy="2743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0" y="2194560"/>
            <a:ext cx="274320" cy="274320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194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221284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กรอกวันที่และเหตุผล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28816" y="2468879"/>
            <a:ext cx="18288" cy="2743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0" y="2761488"/>
            <a:ext cx="274320" cy="274320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27614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277977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กดปุ่ม "ส่งใบลา"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28816" y="3035808"/>
            <a:ext cx="18288" cy="2743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0800" y="3328416"/>
            <a:ext cx="274320" cy="274320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32841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334670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ระบบบันทึกลง Firebase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28816" y="3602736"/>
            <a:ext cx="18288" cy="2743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00800" y="3895344"/>
            <a:ext cx="274320" cy="27432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38953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391363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HR ได้รับแจ้งเตือนทาง Line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28816" y="4169664"/>
            <a:ext cx="18288" cy="2743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0800" y="4462272"/>
            <a:ext cx="274320" cy="27432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44622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448056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HR กด อนุมัติ / ปฏิเสธ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28816" y="4736592"/>
            <a:ext cx="18288" cy="2743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400800" y="5029199"/>
            <a:ext cx="274320" cy="27432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502919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504748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พนักงานเห็นสถานะทันที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6B"/>
                </a:solidFill>
                <a:latin typeface="Arial Black"/>
              </a:rPr>
              <a:t>ตัวอย่างหน้าจอ: ส่งใบลา และประวัติ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05840"/>
            <a:ext cx="2194560" cy="4389120"/>
          </a:xfrm>
          <a:prstGeom prst="roundRect">
            <a:avLst>
              <a:gd name="adj" fmla="val 5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19" y="1097280"/>
            <a:ext cx="201167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08760" y="1097280"/>
            <a:ext cx="457200" cy="137160"/>
          </a:xfrm>
          <a:prstGeom prst="roundRect">
            <a:avLst>
              <a:gd name="adj" fmla="val 5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19" y="1097280"/>
            <a:ext cx="2011679" cy="27432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3" y="11430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09:00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4173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ส่งใบลา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691640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6B"/>
                </a:solidFill>
                <a:latin typeface="Calibri"/>
              </a:rPr>
              <a:t>ประเภทการลา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" y="1929384"/>
            <a:ext cx="502920" cy="219456"/>
          </a:xfrm>
          <a:prstGeom prst="roundRect">
            <a:avLst>
              <a:gd name="adj" fmla="val 5000"/>
            </a:avLst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1929384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ลาป่วย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53312" y="1929384"/>
            <a:ext cx="502920" cy="219456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1929384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ลากิจ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01952" y="1929384"/>
            <a:ext cx="594360" cy="219456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01952" y="192938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ลาพักร้อน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" y="2203704"/>
            <a:ext cx="347472" cy="219456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20370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WFH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97863" y="2203704"/>
            <a:ext cx="347472" cy="219456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863" y="220370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ลาคลอด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91055" y="2203704"/>
            <a:ext cx="347472" cy="219456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91055" y="220370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อื่นๆ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2532888"/>
            <a:ext cx="20116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6B"/>
                </a:solidFill>
                <a:latin typeface="Calibri"/>
              </a:rPr>
              <a:t>วันที่ลา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1" y="2761488"/>
            <a:ext cx="1865375" cy="32004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2798064"/>
            <a:ext cx="1773935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01/06/2569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" y="3163824"/>
            <a:ext cx="20116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6B"/>
                </a:solidFill>
                <a:latin typeface="Calibri"/>
              </a:rPr>
              <a:t>จำนวนวัน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1" y="3392424"/>
            <a:ext cx="1865375" cy="32004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429000"/>
            <a:ext cx="1773935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1 วัน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" y="3794760"/>
            <a:ext cx="20116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6B"/>
                </a:solidFill>
                <a:latin typeface="Calibri"/>
              </a:rPr>
              <a:t>เหตุผล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" y="4023360"/>
            <a:ext cx="1865375" cy="50292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114800"/>
            <a:ext cx="17373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ไม่สบาย มีไข้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1" y="4608576"/>
            <a:ext cx="1865375" cy="365760"/>
          </a:xfrm>
          <a:prstGeom prst="roundRect">
            <a:avLst>
              <a:gd name="adj" fmla="val 5000"/>
            </a:avLst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1" y="4608576"/>
            <a:ext cx="18653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✉  ส่งใบลา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4864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2A6B"/>
                </a:solidFill>
                <a:latin typeface="Calibri"/>
              </a:rPr>
              <a:t>ขั้นตอนที่ 5
ส่งใบลา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3240" y="2926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66160" y="1005840"/>
            <a:ext cx="2194560" cy="4389120"/>
          </a:xfrm>
          <a:prstGeom prst="roundRect">
            <a:avLst>
              <a:gd name="adj" fmla="val 5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657600" y="1097280"/>
            <a:ext cx="201167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434840" y="1097280"/>
            <a:ext cx="457200" cy="137160"/>
          </a:xfrm>
          <a:prstGeom prst="roundRect">
            <a:avLst>
              <a:gd name="adj" fmla="val 5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0" y="1097280"/>
            <a:ext cx="2011679" cy="27432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12463" y="11430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09:00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30752" y="14173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ประวัติใบลา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730752" y="1691640"/>
            <a:ext cx="1865375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22191" y="1783080"/>
            <a:ext cx="13715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6B"/>
                </a:solidFill>
                <a:latin typeface="Calibri"/>
              </a:rPr>
              <a:t>ลาป่วย — 1 วัน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22191" y="2057400"/>
            <a:ext cx="13715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01 มิ.ย. 2569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19" y="1911095"/>
            <a:ext cx="502920" cy="201168"/>
          </a:xfrm>
          <a:prstGeom prst="roundRect">
            <a:avLst>
              <a:gd name="adj" fmla="val 5000"/>
            </a:avLst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19" y="1911095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D97706"/>
                </a:solidFill>
                <a:latin typeface="Calibri"/>
              </a:rPr>
              <a:t>รอพิจารณา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730752" y="2441448"/>
            <a:ext cx="1865375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22191" y="2532888"/>
            <a:ext cx="13715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6B"/>
                </a:solidFill>
                <a:latin typeface="Calibri"/>
              </a:rPr>
              <a:t>ลากิจ — 2 วัน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22191" y="2807208"/>
            <a:ext cx="13715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15-16 พ.ค. 2569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74919" y="2660904"/>
            <a:ext cx="502920" cy="201168"/>
          </a:xfrm>
          <a:prstGeom prst="roundRect">
            <a:avLst>
              <a:gd name="adj" fmla="val 5000"/>
            </a:avLst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74919" y="266090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6E56"/>
                </a:solidFill>
                <a:latin typeface="Calibri"/>
              </a:rPr>
              <a:t>อนุมัติ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730752" y="3191256"/>
            <a:ext cx="1865375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22191" y="3282696"/>
            <a:ext cx="13715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6B"/>
                </a:solidFill>
                <a:latin typeface="Calibri"/>
              </a:rPr>
              <a:t>ลาพักร้อน — 3 วัน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22191" y="3557015"/>
            <a:ext cx="13715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1-3 พ.ค. 2569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74919" y="3410711"/>
            <a:ext cx="502920" cy="201168"/>
          </a:xfrm>
          <a:prstGeom prst="roundRect">
            <a:avLst>
              <a:gd name="adj" fmla="val 5000"/>
            </a:avLst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74919" y="3410711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32D2D"/>
                </a:solidFill>
                <a:latin typeface="Calibri"/>
              </a:rPr>
              <a:t>ไม่อนุมัติ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66160" y="54864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2A6B"/>
                </a:solidFill>
                <a:latin typeface="Calibri"/>
              </a:rPr>
              <a:t>ขั้นตอนที่ 6
ดูสถานะใบลา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10058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A6B"/>
                </a:solidFill>
                <a:latin typeface="Arial Black"/>
              </a:rPr>
              <a:t>ระบบใบลา</a:t>
            </a:r>
          </a:p>
        </p:txBody>
      </p:sp>
      <p:sp>
        <p:nvSpPr>
          <p:cNvPr id="58" name="Oval 57"/>
          <p:cNvSpPr/>
          <p:nvPr/>
        </p:nvSpPr>
        <p:spPr>
          <a:xfrm>
            <a:off x="6400800" y="1645920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1645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66560" y="164592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6B"/>
                </a:solidFill>
                <a:latin typeface="Calibri"/>
              </a:rPr>
              <a:t>📝 ส่งง่ายมาก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1956816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เลือกประเภท → กรอกวัน → กดส่ง ใช้เวลา 30 วินาที</a:t>
            </a:r>
          </a:p>
        </p:txBody>
      </p:sp>
      <p:sp>
        <p:nvSpPr>
          <p:cNvPr id="62" name="Oval 61"/>
          <p:cNvSpPr/>
          <p:nvPr/>
        </p:nvSpPr>
        <p:spPr>
          <a:xfrm>
            <a:off x="6400800" y="2743200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0" y="2743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0" y="274320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6B"/>
                </a:solidFill>
                <a:latin typeface="Calibri"/>
              </a:rPr>
              <a:t>📋 ประวัติครบถ้วน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66560" y="3054096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เห็นสถานะทุกใบลา: รอพิจารณา / อนุมัติ / ไม่อนุมัติ</a:t>
            </a:r>
          </a:p>
        </p:txBody>
      </p:sp>
      <p:sp>
        <p:nvSpPr>
          <p:cNvPr id="66" name="Oval 65"/>
          <p:cNvSpPr/>
          <p:nvPr/>
        </p:nvSpPr>
        <p:spPr>
          <a:xfrm>
            <a:off x="6400800" y="3840480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0" y="3840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66560" y="384048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6B"/>
                </a:solidFill>
                <a:latin typeface="Calibri"/>
              </a:rPr>
              <a:t>💬 แจ้ง HR ทันที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66560" y="4151376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Line Notify ส่งแจ้ง HR ทุกครั้งที่มีใบลาใหม่</a:t>
            </a:r>
          </a:p>
        </p:txBody>
      </p:sp>
      <p:sp>
        <p:nvSpPr>
          <p:cNvPr id="70" name="Oval 69"/>
          <p:cNvSpPr/>
          <p:nvPr/>
        </p:nvSpPr>
        <p:spPr>
          <a:xfrm>
            <a:off x="6400800" y="4937759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0" y="493775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66560" y="4937759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6B"/>
                </a:solidFill>
                <a:latin typeface="Calibri"/>
              </a:rPr>
              <a:t>🔔 พนักงานรับทราบ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66560" y="5248655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เมื่อ HR อนุมัติ/ปฏิเสธ สถานะอัปเดตใน app ทันที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6B"/>
                </a:solidFill>
                <a:latin typeface="Arial Black"/>
              </a:rPr>
              <a:t>HR Dashboard  —  สำหรับ Admin และ HR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43000"/>
            <a:ext cx="2560320" cy="1143000"/>
          </a:xfrm>
          <a:prstGeom prst="roundRect">
            <a:avLst>
              <a:gd name="adj" fmla="val 5000"/>
            </a:avLst>
          </a:prstGeom>
          <a:solidFill>
            <a:srgbClr val="E6F1FB"/>
          </a:solidFill>
          <a:ln w="2540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85FA5"/>
                </a:solidFill>
                <a:latin typeface="Arial Black"/>
              </a:rPr>
              <a:t>32/40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85FA5"/>
                </a:solidFill>
                <a:latin typeface="Calibri"/>
              </a:rPr>
              <a:t>เข้างานวันนี้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143000"/>
            <a:ext cx="2560320" cy="1143000"/>
          </a:xfrm>
          <a:prstGeom prst="roundRect">
            <a:avLst>
              <a:gd name="adj" fmla="val 5000"/>
            </a:avLst>
          </a:prstGeom>
          <a:solidFill>
            <a:srgbClr val="FCEBEB"/>
          </a:solidFill>
          <a:ln w="25400">
            <a:solidFill>
              <a:srgbClr val="A3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2344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A32D2D"/>
                </a:solidFill>
                <a:latin typeface="Arial Black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7830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32D2D"/>
                </a:solidFill>
                <a:latin typeface="Calibri"/>
              </a:rPr>
              <a:t>มาสาย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143000"/>
            <a:ext cx="2560320" cy="1143000"/>
          </a:xfrm>
          <a:prstGeom prst="roundRect">
            <a:avLst>
              <a:gd name="adj" fmla="val 5000"/>
            </a:avLst>
          </a:prstGeom>
          <a:solidFill>
            <a:srgbClr val="FAEEDA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2344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D97706"/>
                </a:solidFill>
                <a:latin typeface="Arial Black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7830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97706"/>
                </a:solidFill>
                <a:latin typeface="Calibri"/>
              </a:rPr>
              <a:t>ลา / WFH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143000"/>
            <a:ext cx="2560320" cy="1143000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2344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7C3AED"/>
                </a:solidFill>
                <a:latin typeface="Arial Black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7830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3AED"/>
                </a:solidFill>
                <a:latin typeface="Calibri"/>
              </a:rPr>
              <a:t>รอพิจารณา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514600"/>
            <a:ext cx="11274552" cy="406908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2514600"/>
            <a:ext cx="11274552" cy="438912"/>
          </a:xfrm>
          <a:prstGeom prst="roundRect">
            <a:avLst>
              <a:gd name="adj" fmla="val 5000"/>
            </a:avLst>
          </a:prstGeom>
          <a:solidFill>
            <a:srgbClr val="1B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57860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WIBWUB HR Dashboard  —  ตัวอย่างหน้าจอจริง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257860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ADCFC"/>
                </a:solidFill>
                <a:latin typeface="Calibri"/>
              </a:rPr>
              <a:t>Admin 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0358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6B"/>
                </a:solidFill>
                <a:latin typeface="Calibri"/>
              </a:rPr>
              <a:t>ใบลารอพิจารณา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401568"/>
            <a:ext cx="530352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3566160"/>
            <a:ext cx="274320" cy="274320"/>
          </a:xfrm>
          <a:prstGeom prst="ellipse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566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85FA5"/>
                </a:solidFill>
                <a:latin typeface="Calibri"/>
              </a:rPr>
              <a:t>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4930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6B"/>
                </a:solidFill>
                <a:latin typeface="Calibri"/>
              </a:rPr>
              <a:t>ฟี — ลาป่วย — 1 วัน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74904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01 มิ.ย. 2569  ·  ไม่สบาย มีไข้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529584"/>
            <a:ext cx="685800" cy="256032"/>
          </a:xfrm>
          <a:prstGeom prst="roundRect">
            <a:avLst>
              <a:gd name="adj" fmla="val 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3529584"/>
            <a:ext cx="685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อนุมัติ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66360" y="3529584"/>
            <a:ext cx="685800" cy="256032"/>
          </a:xfrm>
          <a:prstGeom prst="roundRect">
            <a:avLst>
              <a:gd name="adj" fmla="val 5000"/>
            </a:avLst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529584"/>
            <a:ext cx="685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ปฏิเสธ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151376"/>
            <a:ext cx="530352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13232" y="4315968"/>
            <a:ext cx="274320" cy="274320"/>
          </a:xfrm>
          <a:prstGeom prst="ellipse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43159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85FA5"/>
                </a:solidFill>
                <a:latin typeface="Calibri"/>
              </a:rPr>
              <a:t>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24281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6B"/>
                </a:solidFill>
                <a:latin typeface="Calibri"/>
              </a:rPr>
              <a:t>ตอง — WFH — 1 วัน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49884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02 มิ.ย. 2569  ·  ประชุมนอกสถานที่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4279392"/>
            <a:ext cx="685800" cy="256032"/>
          </a:xfrm>
          <a:prstGeom prst="roundRect">
            <a:avLst>
              <a:gd name="adj" fmla="val 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4279392"/>
            <a:ext cx="685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อนุมัติ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66360" y="4279392"/>
            <a:ext cx="685800" cy="256032"/>
          </a:xfrm>
          <a:prstGeom prst="roundRect">
            <a:avLst>
              <a:gd name="adj" fmla="val 5000"/>
            </a:avLst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66360" y="4279392"/>
            <a:ext cx="685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ปฏิเสธ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0358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6B"/>
                </a:solidFill>
                <a:latin typeface="Calibri"/>
              </a:rPr>
              <a:t>การเข้างานวันนี้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3401568"/>
            <a:ext cx="1280160" cy="274320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34015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ชื่อ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06640" y="3401568"/>
            <a:ext cx="1097280" cy="274320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0" y="34015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แผนก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03919" y="3401568"/>
            <a:ext cx="914400" cy="274320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19" y="34015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เวลา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18319" y="3401568"/>
            <a:ext cx="1097280" cy="274320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18319" y="34015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สถานะ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3675887"/>
            <a:ext cx="1280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0" y="367588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ฟี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06640" y="3675887"/>
            <a:ext cx="10972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06640" y="367588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การตลาด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03919" y="3675887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03919" y="367588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08:47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418319" y="3675887"/>
            <a:ext cx="1097280" cy="274320"/>
          </a:xfrm>
          <a:prstGeom prst="rect">
            <a:avLst/>
          </a:prstGeom>
          <a:solidFill>
            <a:srgbClr val="EAF3D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18319" y="367588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6E56"/>
                </a:solidFill>
                <a:latin typeface="Calibri"/>
              </a:rPr>
              <a:t>ตรงเวลา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26480" y="3968496"/>
            <a:ext cx="1280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26480" y="396849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ตอง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06640" y="3968496"/>
            <a:ext cx="10972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0" y="396849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การตลาด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03919" y="3968496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03919" y="39684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09:05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418319" y="3968496"/>
            <a:ext cx="1097280" cy="274320"/>
          </a:xfrm>
          <a:prstGeom prst="rect">
            <a:avLst/>
          </a:prstGeom>
          <a:solidFill>
            <a:srgbClr val="FAEED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18319" y="396849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97706"/>
                </a:solidFill>
                <a:latin typeface="Calibri"/>
              </a:rPr>
              <a:t>สาย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26480" y="4261103"/>
            <a:ext cx="1280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26480" y="426110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จ้า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06640" y="4261103"/>
            <a:ext cx="10972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06640" y="426110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แอดมิน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503919" y="4261103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03919" y="426110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08:30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418319" y="4261103"/>
            <a:ext cx="1097280" cy="274320"/>
          </a:xfrm>
          <a:prstGeom prst="rect">
            <a:avLst/>
          </a:prstGeom>
          <a:solidFill>
            <a:srgbClr val="EAF3D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418319" y="426110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6E56"/>
                </a:solidFill>
                <a:latin typeface="Calibri"/>
              </a:rPr>
              <a:t>ตรงเวลา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6B"/>
                </a:solidFill>
                <a:latin typeface="Arial Black"/>
              </a:rPr>
              <a:t>การแจ้งเตือน  —  2 แบบให้เลือก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43000"/>
            <a:ext cx="5394960" cy="53492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5394960" cy="9144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A6B"/>
                </a:solidFill>
                <a:latin typeface="Arial Black"/>
              </a:rPr>
              <a:t>Option A  —  Line Notify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556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แจ้งเตือนแบบ one-way (อ่านอย่างเดียว)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21408"/>
            <a:ext cx="5029200" cy="3200400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121408"/>
            <a:ext cx="5029200" cy="384048"/>
          </a:xfrm>
          <a:prstGeom prst="roundRect">
            <a:avLst>
              <a:gd name="adj" fmla="val 5000"/>
            </a:avLst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2176272"/>
            <a:ext cx="320040" cy="274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17627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C755"/>
                </a:solidFill>
                <a:latin typeface="Calibri"/>
              </a:rPr>
              <a:t>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19456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WIBWUB HR Alert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37744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FFC0"/>
                </a:solidFill>
                <a:latin typeface="Calibri"/>
              </a:rPr>
              <a:t>Line Notify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596896"/>
            <a:ext cx="4389120" cy="2542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65176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6B"/>
                </a:solidFill>
                <a:latin typeface="Calibri"/>
              </a:rPr>
              <a:t>🟡 ใบลาใหม่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80944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ชื่อ: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98094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6B"/>
                </a:solidFill>
                <a:latin typeface="Calibri"/>
              </a:rPr>
              <a:t>ฟี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255263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ประเภท: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255263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6B"/>
                </a:solidFill>
                <a:latin typeface="Calibri"/>
              </a:rPr>
              <a:t>ลาป่วย 1 วัน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529584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วันที่: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52958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6B"/>
                </a:solidFill>
                <a:latin typeface="Calibri"/>
              </a:rPr>
              <a:t>01 มิ.ย. 2569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803904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เหตุผล: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80390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6B"/>
                </a:solidFill>
                <a:latin typeface="Calibri"/>
              </a:rPr>
              <a:t>ไม่สบาย มีไข้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114800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👉 อนุมัติได้ที่ HR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370832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2D2D"/>
                </a:solidFill>
                <a:latin typeface="Calibri"/>
              </a:rPr>
              <a:t>(ไม่มีปุ่มกดใน Line โดยตรง)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440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Calibri"/>
              </a:rPr>
              <a:t>✓  ตั้งได้ใน 30 นาที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06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Calibri"/>
              </a:rPr>
              <a:t>✓  ฟรีทั้งหมด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172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Calibri"/>
              </a:rPr>
              <a:t>✓  เหมาะสำหรับเริ่มต้น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37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32D2D"/>
                </a:solidFill>
                <a:latin typeface="Calibri"/>
              </a:rPr>
              <a:t>✗  อนุมัติต้องเปิด Dashboard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144768"/>
            <a:ext cx="5029200" cy="22860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14476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แนะนำสำหรับเริ่มต้น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1143000"/>
            <a:ext cx="5394960" cy="53492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25400">
            <a:solidFill>
              <a:srgbClr val="1B2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1143000"/>
            <a:ext cx="5394960" cy="91440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12984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A6B"/>
                </a:solidFill>
                <a:latin typeface="Arial Black"/>
              </a:rPr>
              <a:t>Option B  —  Line Bot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17556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กดอนุมัติใน Line ได้เลย (ไม่ต้องเปิด Dashboard)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2121408"/>
            <a:ext cx="5029200" cy="3200400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92240" y="2121408"/>
            <a:ext cx="5029200" cy="384048"/>
          </a:xfrm>
          <a:prstGeom prst="roundRect">
            <a:avLst>
              <a:gd name="adj" fmla="val 5000"/>
            </a:avLst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65392" y="2176272"/>
            <a:ext cx="320040" cy="274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217627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C755"/>
                </a:solidFill>
                <a:latin typeface="Calibri"/>
              </a:rPr>
              <a:t>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1152" y="219456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WibWubBot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31152" y="237744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FFC0"/>
                </a:solidFill>
                <a:latin typeface="Calibri"/>
              </a:rPr>
              <a:t>Bot อัตโนมัติ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75120" y="2596896"/>
            <a:ext cx="4389120" cy="2542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12280" y="265176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6B"/>
                </a:solidFill>
                <a:latin typeface="Calibri"/>
              </a:rPr>
              <a:t>🟡 ใบลาใหม่ — รอพิจารณา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2980944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ชื่อ: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43800" y="298094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6B"/>
                </a:solidFill>
                <a:latin typeface="Calibri"/>
              </a:rPr>
              <a:t>ฟี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3255263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ประเภท: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43800" y="3255263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6B"/>
                </a:solidFill>
                <a:latin typeface="Calibri"/>
              </a:rPr>
              <a:t>ลาป่วย 1 วัน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3529584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วันที่: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43800" y="352958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6B"/>
                </a:solidFill>
                <a:latin typeface="Calibri"/>
              </a:rPr>
              <a:t>01 มิ.ย. 2569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3803904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เหตุผล: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43800" y="380390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6B"/>
                </a:solidFill>
                <a:latin typeface="Calibri"/>
              </a:rPr>
              <a:t>ไม่สบาย มีไข้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748272" y="4078224"/>
            <a:ext cx="2011680" cy="347472"/>
          </a:xfrm>
          <a:prstGeom prst="roundRect">
            <a:avLst>
              <a:gd name="adj" fmla="val 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48272" y="4078224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  อนุมัติ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51392" y="4078224"/>
            <a:ext cx="2011680" cy="347472"/>
          </a:xfrm>
          <a:prstGeom prst="roundRect">
            <a:avLst>
              <a:gd name="adj" fmla="val 5000"/>
            </a:avLst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51392" y="4078224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✗  ปฏิเสธ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48272" y="449884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6E56"/>
                </a:solidFill>
                <a:latin typeface="Calibri"/>
              </a:rPr>
              <a:t>HR กดได้เลยจาก Line ไม่ต้องเปิด app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5440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Calibri"/>
              </a:rPr>
              <a:t>✓  HR กดอนุมัติใน Line ทันที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60" y="5806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Calibri"/>
              </a:rPr>
              <a:t>✓  ใช้ WibWubBot ที่มีอยู่แล้ว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0" y="6172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Calibri"/>
              </a:rPr>
              <a:t>✓  UX ดีกว่า สะดวกกว่า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9360" y="6537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32D2D"/>
                </a:solidFill>
                <a:latin typeface="Calibri"/>
              </a:rPr>
              <a:t>✗  ต้องตั้งค่า Webhook + ติดต่อ DEV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92240" y="6144768"/>
            <a:ext cx="5029200" cy="228600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92240" y="614476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อัปเกรดได้ในภายหลัง ไม่กระทบระบบเดิม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 Black"/>
              </a:rPr>
              <a:t>ค่าใช้จ่าย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ADCFC"/>
                </a:solidFill>
                <a:latin typeface="Calibri"/>
              </a:rPr>
              <a:t>HR SaaS ในตลาด  (40 คน)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HRezzy · ZeroGravity · Workplaze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762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฿500 – 2,000 / คน / เดือน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0662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CA5A5"/>
                </a:solidFill>
                <a:latin typeface="Calibri"/>
              </a:rPr>
              <a:t>40 คน  =  ฿20,000 – 80,000 / เดือน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3697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CA5A5"/>
                </a:solidFill>
                <a:latin typeface="Calibri"/>
              </a:rPr>
              <a:t>=  ฿240,000 – 960,000 / ปี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097280"/>
            <a:ext cx="45720" cy="48463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097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ADCFC"/>
                </a:solidFill>
                <a:latin typeface="Calibri"/>
              </a:rPr>
              <a:t>ระบบ WIBWUB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Mobile App (GitHub Pages)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16459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86EFAC"/>
                </a:solidFill>
                <a:latin typeface="Calibri"/>
              </a:rPr>
              <a:t>ฟรี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Firebase Auth + Firestore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21488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86EFAC"/>
                </a:solidFill>
                <a:latin typeface="Calibri"/>
              </a:rPr>
              <a:t>ฟรี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Line Notify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26517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86EFAC"/>
                </a:solidFill>
                <a:latin typeface="Calibri"/>
              </a:rPr>
              <a:t>ฟรี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5468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Google Apps 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315468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86EFAC"/>
                </a:solidFill>
                <a:latin typeface="Calibri"/>
              </a:rPr>
              <a:t>ฟรี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65760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Play Store (optional)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365760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CA5A5"/>
                </a:solidFill>
                <a:latin typeface="Calibri"/>
              </a:rPr>
              <a:t>$25 ครั้งเดียว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16052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App Store (optional)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41605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CA5A5"/>
                </a:solidFill>
                <a:latin typeface="Calibri"/>
              </a:rPr>
              <a:t>$99 / ปี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15000"/>
            <a:ext cx="11274552" cy="8686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71500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ประหยัดได้สูงสุด  ฿960,000 ต่อปี  เทียบกับ HR SaaS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6B"/>
                </a:solidFill>
                <a:latin typeface="Arial Black"/>
              </a:rPr>
              <a:t>ขั้นตอนต่อไป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43000"/>
            <a:ext cx="3639312" cy="5440680"/>
          </a:xfrm>
          <a:prstGeom prst="roundRect">
            <a:avLst>
              <a:gd name="adj" fmla="val 5000"/>
            </a:avLst>
          </a:prstGeom>
          <a:solidFill>
            <a:srgbClr val="E6F1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3639312" cy="109728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85FA5"/>
                </a:solidFill>
                <a:latin typeface="Calibri"/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สัปดาห์นี้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6B"/>
                </a:solidFill>
                <a:latin typeface="Arial Black"/>
              </a:rPr>
              <a:t>เปิดใช้งานระบบ HR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697480"/>
            <a:ext cx="237744" cy="237744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70048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Push ไฟล์ขึ้น GitHub Pages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383280"/>
            <a:ext cx="237744" cy="237744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55848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สร้าง Firebase account ให้พนักงาน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069080"/>
            <a:ext cx="237744" cy="237744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41648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ทดสอบ check-in/out กับทีมเล็กก่อน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754880"/>
            <a:ext cx="237744" cy="237744"/>
          </a:xfrm>
          <a:prstGeom prst="ellipse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727448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ตั้งค่า Line Notify สำหรับ HR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1143000"/>
            <a:ext cx="3639312" cy="5440680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70832" y="1143000"/>
            <a:ext cx="3639312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130759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libri"/>
              </a:rPr>
              <a:t>Phase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169164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2–4 สัปดาห์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2011680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6B"/>
                </a:solidFill>
                <a:latin typeface="Arial Black"/>
              </a:rPr>
              <a:t>เชื่อม Discord Bot</a:t>
            </a:r>
          </a:p>
        </p:txBody>
      </p:sp>
      <p:sp>
        <p:nvSpPr>
          <p:cNvPr id="21" name="Oval 20"/>
          <p:cNvSpPr/>
          <p:nvPr/>
        </p:nvSpPr>
        <p:spPr>
          <a:xfrm>
            <a:off x="4553712" y="2697480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73752" y="2670048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ติดต่อ DEV เจ้าของ WibWubBot</a:t>
            </a:r>
          </a:p>
        </p:txBody>
      </p:sp>
      <p:sp>
        <p:nvSpPr>
          <p:cNvPr id="23" name="Oval 22"/>
          <p:cNvSpPr/>
          <p:nvPr/>
        </p:nvSpPr>
        <p:spPr>
          <a:xfrm>
            <a:off x="4553712" y="3383280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73752" y="3355848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เพิ่มคำสั่ง /checkin /checkout /leave</a:t>
            </a:r>
          </a:p>
        </p:txBody>
      </p:sp>
      <p:sp>
        <p:nvSpPr>
          <p:cNvPr id="25" name="Oval 24"/>
          <p:cNvSpPr/>
          <p:nvPr/>
        </p:nvSpPr>
        <p:spPr>
          <a:xfrm>
            <a:off x="4553712" y="4069080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3752" y="4041648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ทดสอบกับทีมทั้ง 40 คน</a:t>
            </a:r>
          </a:p>
        </p:txBody>
      </p:sp>
      <p:sp>
        <p:nvSpPr>
          <p:cNvPr id="27" name="Oval 26"/>
          <p:cNvSpPr/>
          <p:nvPr/>
        </p:nvSpPr>
        <p:spPr>
          <a:xfrm>
            <a:off x="4553712" y="4754880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73752" y="4727448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อัปเกรด Line Bot ถ้าต้องการ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84464" y="1143000"/>
            <a:ext cx="3639312" cy="5440680"/>
          </a:xfrm>
          <a:prstGeom prst="roundRect">
            <a:avLst>
              <a:gd name="adj" fmla="val 5000"/>
            </a:avLst>
          </a:prstGeom>
          <a:solidFill>
            <a:srgbClr val="EAF3D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84464" y="1143000"/>
            <a:ext cx="3639312" cy="109728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21624" y="130759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6E56"/>
                </a:solidFill>
                <a:latin typeface="Calibri"/>
              </a:rPr>
              <a:t>Phase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21624" y="169164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เดือน 2–3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1624" y="2011680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6B"/>
                </a:solidFill>
                <a:latin typeface="Arial Black"/>
              </a:rPr>
              <a:t>เพิ่มฟีเจอร์ขั้นสูง</a:t>
            </a:r>
          </a:p>
        </p:txBody>
      </p:sp>
      <p:sp>
        <p:nvSpPr>
          <p:cNvPr id="34" name="Oval 33"/>
          <p:cNvSpPr/>
          <p:nvPr/>
        </p:nvSpPr>
        <p:spPr>
          <a:xfrm>
            <a:off x="8467344" y="2697480"/>
            <a:ext cx="237744" cy="237744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87384" y="2670048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ระบบโควต้าวันลา</a:t>
            </a:r>
          </a:p>
        </p:txBody>
      </p:sp>
      <p:sp>
        <p:nvSpPr>
          <p:cNvPr id="36" name="Oval 35"/>
          <p:cNvSpPr/>
          <p:nvPr/>
        </p:nvSpPr>
        <p:spPr>
          <a:xfrm>
            <a:off x="8467344" y="3383280"/>
            <a:ext cx="237744" cy="237744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87384" y="3355848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Export รายงาน Excel รายเดือน</a:t>
            </a:r>
          </a:p>
        </p:txBody>
      </p:sp>
      <p:sp>
        <p:nvSpPr>
          <p:cNvPr id="38" name="Oval 37"/>
          <p:cNvSpPr/>
          <p:nvPr/>
        </p:nvSpPr>
        <p:spPr>
          <a:xfrm>
            <a:off x="8467344" y="4069080"/>
            <a:ext cx="237744" cy="237744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87384" y="4041648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ขึ้น Play Store (ถ้าต้องการ)</a:t>
            </a:r>
          </a:p>
        </p:txBody>
      </p:sp>
      <p:sp>
        <p:nvSpPr>
          <p:cNvPr id="40" name="Oval 39"/>
          <p:cNvSpPr/>
          <p:nvPr/>
        </p:nvSpPr>
        <p:spPr>
          <a:xfrm>
            <a:off x="8467344" y="4754880"/>
            <a:ext cx="237744" cy="237744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87384" y="4727448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GPS Radius Check ป้องกัน check-in จากบ้าน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2296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Arial Black"/>
              </a:rPr>
              <a:t>พร้อมเริ่มต้นแล้ว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ADCFC"/>
                </a:solidFill>
                <a:latin typeface="Calibri"/>
              </a:rPr>
              <a:t>ระบบ HR WIBWUB พร้อมใช้งาน 90%  ·  รอแค่ push ขึ้น GitHub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971800"/>
            <a:ext cx="3429000" cy="224028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</a:rPr>
              <a:t>ไม่ต้องซื้อซอฟต์แวร์ใหม่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22191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  <a:latin typeface="Calibri"/>
              </a:rPr>
              <a:t>ใช้ Firebase + GitHub Pages
ที่มีอยู่แล้ว ฟรี</a:t>
            </a:r>
          </a:p>
        </p:txBody>
      </p:sp>
      <p:sp>
        <p:nvSpPr>
          <p:cNvPr id="7" name="Rectangle 6"/>
          <p:cNvSpPr/>
          <p:nvPr/>
        </p:nvSpPr>
        <p:spPr>
          <a:xfrm>
            <a:off x="4407408" y="2971800"/>
            <a:ext cx="3429000" cy="22402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4568" y="310896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</a:rPr>
              <a:t>เริ่มใช้ได้สัปดาห์นี้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3822191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  <a:latin typeface="Calibri"/>
              </a:rPr>
              <a:t>ระบบพร้อม 90%
แค่สร้าง user account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74736" y="2971800"/>
            <a:ext cx="3429000" cy="2240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1896" y="310896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</a:rPr>
              <a:t>ประหยัดหลักแสน/ปี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1896" y="3822191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  <a:latin typeface="Calibri"/>
              </a:rPr>
              <a:t>เทียบกับ HR SaaS
ในราคา ฿0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291072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wibwubcar.github.io/Wibwub-Dashboard/WIBWUB_Mobile.html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